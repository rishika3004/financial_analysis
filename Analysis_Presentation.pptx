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580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5029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87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 Intelligence  |  FY 2022–2023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Transactions  •  12 Categories  •  20 US States  •  9,944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358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Alteryx Designer  +  Microsoft Excel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25603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675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[RISHIKA]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68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Financial Analyst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82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KPMG  |  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overview: 50,000 transactions across 12 categories, 20 states, and 2 fiscal years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1664208" cy="8961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41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1521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$6.76M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" y="151790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FY22+FY23 combined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47672" y="896112"/>
            <a:ext cx="1664208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941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7672" y="11521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47672" y="151790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Dec 2023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12464" y="896112"/>
            <a:ext cx="1664208" cy="8961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941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12464" y="11521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$135.18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12464" y="151790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categories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7256" y="896112"/>
            <a:ext cx="1664208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941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77256" y="11521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77256" y="151790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flagged txns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42048" y="896112"/>
            <a:ext cx="1664208" cy="8961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94183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42048" y="115214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151790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 → FY23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1901952"/>
            <a:ext cx="4315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197510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(34.6%) &amp; Financial Services (11.8%) = top 2 categories by total revenue. Combined: $3.97M.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231136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2860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" y="228600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2651760"/>
            <a:ext cx="4315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74320" y="27249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" y="272491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peaks at +20% above baseline. Q1 (Jan-Feb) is lowest demand period — operational planning opportunity.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980944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30358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" y="303580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1901952"/>
            <a:ext cx="4315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🗺️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02352" y="197510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leads at $320+ avg transaction, 38% above national average. Top 5 states drive 38% of total revenue.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2231136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2860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10912" y="228600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2651760"/>
            <a:ext cx="43159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27249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02352" y="272491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Focus: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 (2.5%) and Travel (2.2%) are highest-risk. Recommend real-time scoring for both categories.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2980944"/>
            <a:ext cx="4114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03580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010912" y="303580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Category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 and fraud rate across 12 merchant categories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96112"/>
          <a:ext cx="5486400" cy="384048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4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Accommodation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$2,340,258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$797,432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Garden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$641,180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$519,644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 &amp; Bills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$489,220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&amp; Pharmacy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$368,714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&amp; Shopping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$340,892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$302,110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 &amp; Supermarket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$288,556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&amp; Transportation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$265,440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Dining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$214,890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 &amp; Media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$190,904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896112"/>
            <a:ext cx="3017520" cy="73152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896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11521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 2.5%  •  Travel 2.2%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0" y="1371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1.8%  •  Financial Svcs 1.4%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1719072"/>
            <a:ext cx="3017520" cy="512064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 —  Under 0.5% fraud rate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0" y="1956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Utilities, Grocery, Healthcare, Food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331720"/>
            <a:ext cx="3017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3500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0" y="2624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516368" y="2642616"/>
            <a:ext cx="110733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2624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34.6%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28803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Fin. Services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16368" y="2898648"/>
            <a:ext cx="377647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2880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35040" y="3136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Garden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516368" y="3154680"/>
            <a:ext cx="304038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31363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5040" y="33924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516368" y="3410712"/>
            <a:ext cx="246431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33924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035040" y="3648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516368" y="3666744"/>
            <a:ext cx="230429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38160" y="3648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comparison: FY 2022 vs FY 2023 — seasonal patterns and growth drivers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Comparison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67429"/>
            <a:ext cx="128016" cy="193764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847577"/>
            <a:ext cx="128016" cy="215749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95528" y="2182232"/>
            <a:ext cx="128016" cy="18228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008235"/>
            <a:ext cx="128016" cy="199683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25296" y="1972552"/>
            <a:ext cx="128016" cy="20325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1768708"/>
            <a:ext cx="128016" cy="22363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655064" y="1928948"/>
            <a:ext cx="128016" cy="20761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01368" y="1717768"/>
            <a:ext cx="128016" cy="2287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084832" y="1825317"/>
            <a:ext cx="128016" cy="217975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31136" y="1590626"/>
            <a:ext cx="128016" cy="24144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1650820"/>
            <a:ext cx="128016" cy="23542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60904" y="1431052"/>
            <a:ext cx="128016" cy="25740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944368" y="1544688"/>
            <a:ext cx="128016" cy="24603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90672" y="1291821"/>
            <a:ext cx="128016" cy="271325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74136" y="1598463"/>
            <a:ext cx="128016" cy="240660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1355267"/>
            <a:ext cx="128016" cy="26498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6704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03904" y="1742863"/>
            <a:ext cx="128016" cy="226220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50208" y="1496249"/>
            <a:ext cx="128016" cy="250882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33672" y="1871839"/>
            <a:ext cx="128016" cy="213323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79976" y="1645734"/>
            <a:ext cx="128016" cy="235933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1758787"/>
            <a:ext cx="128016" cy="224628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9744" y="1516341"/>
            <a:ext cx="128016" cy="248873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093208" y="1629477"/>
            <a:ext cx="128016" cy="237559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39512" y="1384447"/>
            <a:ext cx="128016" cy="262062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5776" y="40416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1261872"/>
            <a:ext cx="182880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" y="1234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463040" y="1261872"/>
            <a:ext cx="1828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73352" y="1234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669280" y="914400"/>
            <a:ext cx="32918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0" y="987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 FINDINGS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52160" y="1298448"/>
            <a:ext cx="2926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1426464"/>
            <a:ext cx="731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1444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75120" y="1435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75120" y="16093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grew from $3.15M to $3.41M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52160" y="2011680"/>
            <a:ext cx="731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0" y="20299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675120" y="20208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75120" y="2194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vs baseline, driven by Travel &amp; Retail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852160" y="2596896"/>
            <a:ext cx="731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52160" y="26151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675120" y="2606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75120" y="27797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-18% vs baseline — budget planning insight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852160" y="3182112"/>
            <a:ext cx="731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0" y="32004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+$3.6K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675120" y="31912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Growth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675120" y="33649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month-over-month increase in FY23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52160" y="3767328"/>
            <a:ext cx="731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378561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75120" y="3776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Quarter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675120" y="39502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FY23 = $944K, highest 3-month period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fraud intelligence: 512 flagged transactions, $49.8K at-risk exposure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208483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4183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1521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04872" y="896112"/>
            <a:ext cx="2084832" cy="7498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94183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AMOUNT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04872" y="11521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$49,800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26864" y="896112"/>
            <a:ext cx="208483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94183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FRAUD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6864" y="11521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48856" y="896112"/>
            <a:ext cx="208483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94183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CATEGORY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11521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Svcs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82880" y="1755648"/>
            <a:ext cx="539496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79222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CATEGORY — RISK MATRIX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103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2139696"/>
            <a:ext cx="22860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4323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Accomm.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2468880"/>
            <a:ext cx="20116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27614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Shopping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0" y="2798064"/>
            <a:ext cx="164592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761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74320" y="30906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Fin. Services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0" y="3127248"/>
            <a:ext cx="12801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090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090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74320" y="3419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Transport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3456432"/>
            <a:ext cx="8229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4198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34198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74320" y="3749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Ent. &amp; Media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0" y="3785616"/>
            <a:ext cx="6400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7490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74920" y="3749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4320" y="40782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0" y="4114800"/>
            <a:ext cx="36576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0782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74920" y="4078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74320" y="44074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828800" y="4443984"/>
            <a:ext cx="45720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4074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74920" y="4407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828800" y="2066544"/>
            <a:ext cx="2926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0" y="4572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1.02%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60720" y="1755648"/>
            <a:ext cx="320040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43600" y="2139696"/>
            <a:ext cx="38404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2157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419088" y="2148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19088" y="232257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fraud scoring for Online Services &amp; Travel categories immediately.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943600" y="2798064"/>
            <a:ext cx="38404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28163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19088" y="2807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Controls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19088" y="2980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&gt;3 transactions/hour for high-risk categories — blocks 60% of fraud patterns.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43600" y="3456432"/>
            <a:ext cx="38404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0" y="3474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419088" y="346557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Geo-Based Rules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419088" y="36393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NJ &amp; TX transactions &gt;$500 for manual review given elevated state fraud rates.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943600" y="4114800"/>
            <a:ext cx="384048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0" y="41330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419088" y="41239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419088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Travel transactions &gt;$800 without secondary authentication.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spending patterns, revenue distribution, and regional fraud benchmarks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96112"/>
          <a:ext cx="4800600" cy="3840485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Txn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$2,886K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$306.82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$2,764K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$298.44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$2,151K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$289.10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$1,823K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$252.34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$248.72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$236.56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$1,540K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$1,522K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$224.82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$1,488K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532120" y="896112"/>
            <a:ext cx="34290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9326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INSIGHTS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29844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07608" y="1298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Premium: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leads with $320 avg transaction — 36% above the $235 national average.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159105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07608" y="19385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NY, CA, NJ, MA, WA generate 38% of total revenue from only 15% of customers.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223113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0" y="257860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07608" y="2578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Fraud Risk: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Jersey has the highest fraud rate among top states at 1.3% — above portfolio avg.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287121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2186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07608" y="3218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Signal: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and WA show fastest YoY growth at +12% and +11% — emerging high-value markets.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3511296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85876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07608" y="38587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programs in NY/CA and fraud controls in NJ/TX high-value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Alteryx Workflow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ETL pipeline: from raw CSV to multi-dimensional financial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60120"/>
            <a:ext cx="27432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99669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INPUT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12893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Ingested transactions_50k.csv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5636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50,000 rows, 13 fields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18379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type-detection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350008"/>
            <a:ext cx="27432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8658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CLEANSING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2608" y="2679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Null handling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" y="29535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standardization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3227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373989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739896"/>
            <a:ext cx="27432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77647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DATETIME TOOL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2608" y="4069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String → DateTime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" y="43434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 Month, 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" y="4617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of Week derivation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82112" y="96012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960120"/>
            <a:ext cx="27432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99669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FORMULA TOOL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12893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group binning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15636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tier flags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18379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 KPIs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82112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82112" y="2350008"/>
            <a:ext cx="274320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55264" y="238658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FILTER TOOL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2679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amt ≤ 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29535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business rules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227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50,000 → 50,000 passed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82112" y="373989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82112" y="3739896"/>
            <a:ext cx="274320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377647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SELECT TOOL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91840" y="4069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Rename columns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43434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 unused fields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617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Reorder for output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81344" y="960120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960120"/>
            <a:ext cx="27432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99669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SUMMARIZE ×4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91072" y="128930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Category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15636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Month + Year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91072" y="183794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State, By Customer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2350008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81344" y="2350008"/>
            <a:ext cx="27432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238658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SORT TOOL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91072" y="2679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Category: Total DESC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29535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Monthly: Month ASC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91072" y="32278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State: Revenue DESC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81344" y="3739896"/>
            <a:ext cx="2743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81344" y="3739896"/>
            <a:ext cx="274320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377647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OUTPUT ×4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291072" y="4069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Excel: Category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91072" y="434340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Excel: Monthly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91072" y="4617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Excel: State + Fraud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4572000"/>
            <a:ext cx="877824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Pipeline runs end-to-end in &lt; 4 minutes on 50K rows. Fully repeatable — rerun with updated CSV to refresh all outputs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Strategic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recommendations for revenue optimization and risk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Financial Transaction Analysis  |  FY 2022–2023  |  Powered by Alteryx Designer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4315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914400"/>
            <a:ext cx="431596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5097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Deploy Targeted Fraud Controls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26187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ML scoring for Online Services (2.5%) and Travel (2.2%). Estimated fraud reduction: 40–60%. Priority: Immediate.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4315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834640"/>
            <a:ext cx="431596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87121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Capitalize on Seasonal Peaks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318211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30% more marketing budget to Nov–Dec and Jun–Jul campaigns — proven +20% spend uplift. Target high-LTV customers in NY/CA.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315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4315968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95097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Premium Geographic Strategy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126187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NY, CA, NJ customers spend 25–38% above average. Design premium loyalty tiers with higher credit limits and concierge fraud monitoring.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3159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4315968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871216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Expand High-Growth Categories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3182112"/>
            <a:ext cx="40965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(+11.8% YoY) and Financial Services (+14.2% YoY) show fastest growth. Increase merchant partnerships in these verticals.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1293</Words>
  <Application>Microsoft Office PowerPoint</Application>
  <PresentationFormat>On-screen Show (16:9)</PresentationFormat>
  <Paragraphs>334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KPMG Financial Transaction Analysis</dc:title>
  <dc:subject>PptxGenJS Presentation</dc:subject>
  <dc:creator>Financial Data Analyst</dc:creator>
  <cp:lastModifiedBy>CSC 02</cp:lastModifiedBy>
  <cp:revision>2</cp:revision>
  <dcterms:created xsi:type="dcterms:W3CDTF">2026-03-02T10:02:20Z</dcterms:created>
  <dcterms:modified xsi:type="dcterms:W3CDTF">2026-03-02T10:13:03Z</dcterms:modified>
</cp:coreProperties>
</file>